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Fredoka Bold" panose="020B0604020202020204" charset="-79"/>
      <p:regular r:id="rId11"/>
    </p:embeddedFont>
    <p:embeddedFont>
      <p:font typeface="Rubik" panose="020B0604020202020204" charset="-79"/>
      <p:regular r:id="rId12"/>
    </p:embeddedFont>
    <p:embeddedFont>
      <p:font typeface="Rubik Bold" panose="020B0604020202020204" charset="-79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890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94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BD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99" y="77637"/>
            <a:ext cx="6908627" cy="6858000"/>
          </a:xfrm>
          <a:prstGeom prst="rect">
            <a:avLst/>
          </a:prstGeom>
          <a:solidFill>
            <a:srgbClr val="F5EBD5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496318"/>
            <a:ext cx="629904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88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CAPSTONE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755973"/>
            <a:ext cx="5765656" cy="2990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6400" b="1" kern="0" spc="-64" dirty="0">
                <a:solidFill>
                  <a:srgbClr val="000000"/>
                </a:solidFill>
                <a:latin typeface="Fredoka Bold" pitchFamily="34" charset="0"/>
                <a:ea typeface="Fredoka Bold" pitchFamily="34" charset="-122"/>
                <a:cs typeface="Fredoka Bold" pitchFamily="34" charset="-120"/>
              </a:rPr>
              <a:t>VENDING MACHINE CONTROLLER STIMULATOR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09585" y="5433219"/>
            <a:ext cx="5765656" cy="865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5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Team - 2620030470 (K Sujji Reddy)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             2620030297 (Sahithi Ayyagari)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908627" y="0"/>
            <a:ext cx="5283068" cy="6858000"/>
          </a:xfrm>
          <a:prstGeom prst="rect">
            <a:avLst/>
          </a:prstGeom>
          <a:solidFill>
            <a:srgbClr val="F5CB2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EBD5A8-D372-06E8-5102-293EA3613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5328" y="0"/>
            <a:ext cx="1046672" cy="7012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4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457200"/>
            <a:ext cx="429765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88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01 · WHY THIS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189" y="716855"/>
            <a:ext cx="38404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ABSTRACT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189" y="1224855"/>
            <a:ext cx="384046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b="1" kern="0" spc="-30" dirty="0">
                <a:solidFill>
                  <a:srgbClr val="000000"/>
                </a:solidFill>
                <a:latin typeface="Fredoka Bold" pitchFamily="34" charset="0"/>
                <a:ea typeface="Fredoka Bold" pitchFamily="34" charset="-122"/>
                <a:cs typeface="Fredoka Bold" pitchFamily="34" charset="-120"/>
              </a:rPr>
              <a:t>WHAT WE WANT TO ACHIEVE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189" y="2212280"/>
            <a:ext cx="3840463" cy="174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155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Show how a simple interactive program can mimic a vending machine without needing hardware.</a:t>
            </a:r>
            <a:endParaRPr lang="en-US" sz="14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Use the project to learn and apply core Java programming ideas in a concrete, user-facing system.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16722" y="457200"/>
            <a:ext cx="62177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What the simulator should handle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516722" y="923925"/>
            <a:ext cx="6217784" cy="12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Show products, codes, prices and availability.</a:t>
            </a:r>
            <a:endParaRPr lang="en-US" sz="1400" dirty="0"/>
          </a:p>
          <a:p>
            <a:pPr marL="284480" indent="-284480" algn="l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Let a user choose a product and enter money.</a:t>
            </a:r>
            <a:endParaRPr lang="en-US" sz="1400" dirty="0"/>
          </a:p>
          <a:p>
            <a:pPr marL="284480" indent="-284480" algn="l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Check invalid selections and insufficient funds.</a:t>
            </a:r>
            <a:endParaRPr lang="en-US" sz="1400" dirty="0"/>
          </a:p>
          <a:p>
            <a:pPr marL="284480" indent="-284480" algn="l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Complete a valid purchase and report any change.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16722" y="2329656"/>
            <a:ext cx="6217784" cy="960041"/>
          </a:xfrm>
          <a:prstGeom prst="roundRect">
            <a:avLst>
              <a:gd name="adj" fmla="val 7778"/>
            </a:avLst>
          </a:prstGeom>
          <a:solidFill>
            <a:srgbClr val="B6FCB8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518" y="2580481"/>
            <a:ext cx="222244" cy="177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94558" y="2551906"/>
            <a:ext cx="5462153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goal is a clear, interactive learning model—not a claim to reproduce every physical vending-machine feature.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7C6F6D-9840-8E2B-E58B-6F15291F1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9974" y="5854765"/>
            <a:ext cx="1342026" cy="10032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58571" cy="6858000"/>
          </a:xfrm>
          <a:prstGeom prst="rect">
            <a:avLst/>
          </a:prstGeom>
          <a:solidFill>
            <a:srgbClr val="F5C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457200"/>
            <a:ext cx="390138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88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02 · SYSTEM 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189" y="716855"/>
            <a:ext cx="344419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b="1" kern="0" spc="-30" dirty="0">
                <a:solidFill>
                  <a:srgbClr val="000000"/>
                </a:solidFill>
                <a:latin typeface="Fredoka Bold" pitchFamily="34" charset="0"/>
                <a:ea typeface="Fredoka Bold" pitchFamily="34" charset="-122"/>
                <a:cs typeface="Fredoka Bold" pitchFamily="34" charset="-120"/>
              </a:rPr>
              <a:t>THE WORKING OF OUR PLAN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189" y="1704280"/>
            <a:ext cx="3444194" cy="1288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 menu-driven controller connects product data, user input and transaction rules. Each choice moves through a predictable loop: display, validate, respond and update.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993132"/>
            <a:ext cx="3444194" cy="34076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452" y="457200"/>
            <a:ext cx="661405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Core components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120452" y="923925"/>
            <a:ext cx="3230779" cy="1970187"/>
          </a:xfrm>
          <a:prstGeom prst="roundRect">
            <a:avLst>
              <a:gd name="adj" fmla="val 10829"/>
            </a:avLst>
          </a:prstGeom>
          <a:solidFill>
            <a:srgbClr val="F5EBD5"/>
          </a:solidFill>
          <a:ln w="38099">
            <a:solidFill>
              <a:srgbClr val="11111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87146" y="1190625"/>
            <a:ext cx="2697393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Product data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387146" y="1596330"/>
            <a:ext cx="2697393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Names, codes, prices and stock levels are kept together so the controller can find and update one product consistently.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503628" y="923925"/>
            <a:ext cx="3230879" cy="1970187"/>
          </a:xfrm>
          <a:prstGeom prst="roundRect">
            <a:avLst>
              <a:gd name="adj" fmla="val 10829"/>
            </a:avLst>
          </a:prstGeom>
          <a:solidFill>
            <a:srgbClr val="FFFFFF"/>
          </a:solidFill>
          <a:ln w="38099">
            <a:solidFill>
              <a:srgbClr val="11111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0321" y="1190625"/>
            <a:ext cx="269749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Input layer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770321" y="1596330"/>
            <a:ext cx="269749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Menu choices and payment tokens from the user are read, parsed and passed to the controller for checking.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120452" y="3046512"/>
            <a:ext cx="3230779" cy="1970187"/>
          </a:xfrm>
          <a:prstGeom prst="roundRect">
            <a:avLst>
              <a:gd name="adj" fmla="val 10829"/>
            </a:avLst>
          </a:prstGeom>
          <a:solidFill>
            <a:srgbClr val="F5CB22"/>
          </a:solidFill>
          <a:ln w="38099">
            <a:solidFill>
              <a:srgbClr val="11111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87146" y="3313212"/>
            <a:ext cx="2697393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Controller rules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87146" y="3718917"/>
            <a:ext cx="2697393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Validation, payment checks and inventory updates keep invalid choices from reaching the purchase step.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503628" y="3046512"/>
            <a:ext cx="3230879" cy="1970187"/>
          </a:xfrm>
          <a:prstGeom prst="roundRect">
            <a:avLst>
              <a:gd name="adj" fmla="val 10829"/>
            </a:avLst>
          </a:prstGeom>
          <a:solidFill>
            <a:srgbClr val="111111"/>
          </a:solidFill>
          <a:ln w="38099">
            <a:solidFill>
              <a:srgbClr val="11111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0321" y="3313212"/>
            <a:ext cx="269749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Output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770321" y="3718917"/>
            <a:ext cx="269749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Purchase status, a clear reason for failure and the calculated change explain the result to the user.</a:t>
            </a:r>
            <a:endParaRPr lang="en-US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97B1F6A-0648-3832-F75C-E97120523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6050" y="5911634"/>
            <a:ext cx="1265950" cy="9463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06400"/>
            <a:ext cx="11683708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88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03 · USER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666055"/>
            <a:ext cx="1117572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b="1" kern="0" spc="-30" dirty="0">
                <a:solidFill>
                  <a:srgbClr val="000000"/>
                </a:solidFill>
                <a:latin typeface="Fredoka Bold" pitchFamily="34" charset="0"/>
                <a:ea typeface="Fredoka Bold" pitchFamily="34" charset="-122"/>
                <a:cs typeface="Fredoka Bold" pitchFamily="34" charset="-120"/>
              </a:rPr>
              <a:t>ONE TRANSACTION, STEP BY STEP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87" y="1272480"/>
            <a:ext cx="1117572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simulator turns a vending-machine purchase into a visible sequence of decisions, making it easy to trace both success and failure paths.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7987" y="1991221"/>
            <a:ext cx="1735590" cy="2031206"/>
          </a:xfrm>
          <a:prstGeom prst="roundRect">
            <a:avLst>
              <a:gd name="adj" fmla="val 12293"/>
            </a:avLst>
          </a:prstGeom>
          <a:solidFill>
            <a:srgbClr val="F5EBD5"/>
          </a:solidFill>
          <a:ln w="38099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4681" y="2257921"/>
            <a:ext cx="120220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4681" y="2724646"/>
            <a:ext cx="1202204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Show products, codes, prices and stock.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95974" y="1991221"/>
            <a:ext cx="1735590" cy="2031206"/>
          </a:xfrm>
          <a:prstGeom prst="roundRect">
            <a:avLst>
              <a:gd name="adj" fmla="val 12293"/>
            </a:avLst>
          </a:prstGeom>
          <a:solidFill>
            <a:srgbClr val="F5EBD5"/>
          </a:solidFill>
          <a:ln w="38099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62667" y="2257921"/>
            <a:ext cx="120220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62667" y="2724646"/>
            <a:ext cx="1202204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Choose a valid product code.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83960" y="1991221"/>
            <a:ext cx="1735689" cy="2031206"/>
          </a:xfrm>
          <a:prstGeom prst="roundRect">
            <a:avLst>
              <a:gd name="adj" fmla="val 12292"/>
            </a:avLst>
          </a:prstGeom>
          <a:solidFill>
            <a:srgbClr val="F5EBD5"/>
          </a:solidFill>
          <a:ln w="38099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0653" y="2257921"/>
            <a:ext cx="120230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50653" y="2724646"/>
            <a:ext cx="1202303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Enter the payment amount.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046" y="1991221"/>
            <a:ext cx="1735590" cy="2031206"/>
          </a:xfrm>
          <a:prstGeom prst="roundRect">
            <a:avLst>
              <a:gd name="adj" fmla="val 12293"/>
            </a:avLst>
          </a:prstGeom>
          <a:solidFill>
            <a:srgbClr val="F5EBD5"/>
          </a:solidFill>
          <a:ln w="38099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8739" y="2257921"/>
            <a:ext cx="120220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38739" y="2724646"/>
            <a:ext cx="1202204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Check code, stock and funds.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60032" y="1991221"/>
            <a:ext cx="1735590" cy="2031206"/>
          </a:xfrm>
          <a:prstGeom prst="roundRect">
            <a:avLst>
              <a:gd name="adj" fmla="val 12293"/>
            </a:avLst>
          </a:prstGeom>
          <a:solidFill>
            <a:srgbClr val="F5EBD5"/>
          </a:solidFill>
          <a:ln w="38099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6725" y="2257921"/>
            <a:ext cx="120220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26725" y="2724646"/>
            <a:ext cx="1202204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Confirm purchase and return change.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948018" y="1991221"/>
            <a:ext cx="1735689" cy="2031206"/>
          </a:xfrm>
          <a:prstGeom prst="roundRect">
            <a:avLst>
              <a:gd name="adj" fmla="val 12292"/>
            </a:avLst>
          </a:prstGeom>
          <a:solidFill>
            <a:srgbClr val="F5EBD5"/>
          </a:solidFill>
          <a:ln w="38099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14712" y="2257921"/>
            <a:ext cx="120230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214712" y="2724646"/>
            <a:ext cx="1202303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Reduce inventory for the next user.</a:t>
            </a:r>
            <a:endParaRPr lang="en-US" sz="1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A767BC4-A2FA-3BA1-1957-DD8997097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783" y="5701936"/>
            <a:ext cx="1546463" cy="11560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143" y="0"/>
            <a:ext cx="3962301" cy="6858000"/>
          </a:xfrm>
          <a:prstGeom prst="rect">
            <a:avLst/>
          </a:prstGeom>
          <a:solidFill>
            <a:srgbClr val="F5C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457200"/>
            <a:ext cx="350511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88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04 · JAVA TOOLKIT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189" y="716855"/>
            <a:ext cx="30479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b="1" kern="0" spc="-30" dirty="0">
                <a:solidFill>
                  <a:srgbClr val="000000"/>
                </a:solidFill>
                <a:latin typeface="Fredoka Bold" pitchFamily="34" charset="0"/>
                <a:ea typeface="Fredoka Bold" pitchFamily="34" charset="-122"/>
                <a:cs typeface="Fredoka Bold" pitchFamily="34" charset="-120"/>
              </a:rPr>
              <a:t>JAVA CONCEPTS IN THE SIMULATOR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189" y="2085280"/>
            <a:ext cx="3047924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Each concept supports a specific part of the interaction, turning familiar Java syntax into visible machine behavior.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24282" y="457200"/>
            <a:ext cx="3428914" cy="2895600"/>
          </a:xfrm>
          <a:prstGeom prst="rect">
            <a:avLst/>
          </a:prstGeom>
          <a:solidFill>
            <a:srgbClr val="F5EBD5"/>
          </a:solidFill>
          <a:ln w="38099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71966" y="1104900"/>
            <a:ext cx="21335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Control flow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71966" y="1571625"/>
            <a:ext cx="2133547" cy="1546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if/else</a:t>
            </a: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handles validity and payment decisions. </a:t>
            </a:r>
            <a:r>
              <a:rPr lang="en-US" sz="1400" b="1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Loops</a:t>
            </a: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keep the menu active until the user exits or completes a transaction.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305592" y="457200"/>
            <a:ext cx="3428914" cy="2895600"/>
          </a:xfrm>
          <a:prstGeom prst="rect">
            <a:avLst/>
          </a:prstGeom>
          <a:solidFill>
            <a:srgbClr val="FFFFFF"/>
          </a:solidFill>
          <a:ln w="38099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276" y="1104900"/>
            <a:ext cx="21335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Arrays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953276" y="1571625"/>
            <a:ext cx="2133547" cy="1288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Fixed-length, same-type containers store parallel product details; one index links a name, code, price and stock value.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24282" y="3505200"/>
            <a:ext cx="3428914" cy="2895600"/>
          </a:xfrm>
          <a:prstGeom prst="rect">
            <a:avLst/>
          </a:prstGeom>
          <a:solidFill>
            <a:srgbClr val="111111"/>
          </a:solidFill>
          <a:ln w="38099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1966" y="4152900"/>
            <a:ext cx="21335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Scanner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71966" y="4619625"/>
            <a:ext cx="2133547" cy="1546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Reads formatted user input and parses typed tokens such as codes and amounts, while the program prompts for the next value.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05592" y="3505200"/>
            <a:ext cx="3428914" cy="2895600"/>
          </a:xfrm>
          <a:prstGeom prst="rect">
            <a:avLst/>
          </a:prstGeom>
          <a:solidFill>
            <a:srgbClr val="F5CB22"/>
          </a:solidFill>
          <a:ln w="38099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53276" y="4152900"/>
            <a:ext cx="21335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Methods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53276" y="4619625"/>
            <a:ext cx="2133547" cy="1546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Separate tasks into reusable units—display, lookup, validate, purchase and report—so each method has one clear responsibility.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8EAC1F2-054F-764F-C119-CB45A7FBF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668" y="5914339"/>
            <a:ext cx="1262332" cy="9436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06400"/>
            <a:ext cx="11683708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88" dirty="0">
                <a:solidFill>
                  <a:srgbClr val="111111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05 · CONTROLLER LOGIC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666055"/>
            <a:ext cx="1117572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b="1" kern="0" spc="-30" dirty="0">
                <a:solidFill>
                  <a:srgbClr val="111111"/>
                </a:solidFill>
                <a:latin typeface="Fredoka Bold" pitchFamily="34" charset="0"/>
                <a:ea typeface="Fredoka Bold" pitchFamily="34" charset="-122"/>
                <a:cs typeface="Fredoka Bold" pitchFamily="34" charset="-120"/>
              </a:rPr>
              <a:t>FROM INPUT TO OUTCOME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87" y="1272480"/>
            <a:ext cx="1168370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controller evaluates one state at a time, making the result explainable to the user.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7987" y="1733451"/>
            <a:ext cx="3623577" cy="15918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12780" y="2038251"/>
            <a:ext cx="301399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READY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780" y="2504976"/>
            <a:ext cx="301399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Show products and wait for a selection.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83960" y="1733451"/>
            <a:ext cx="3623676" cy="1591866"/>
          </a:xfrm>
          <a:prstGeom prst="rect">
            <a:avLst/>
          </a:prstGeom>
          <a:solidFill>
            <a:srgbClr val="F5EBD5"/>
          </a:solidFill>
          <a:ln/>
        </p:spPr>
      </p:sp>
      <p:sp>
        <p:nvSpPr>
          <p:cNvPr id="9" name="Text 7"/>
          <p:cNvSpPr/>
          <p:nvPr/>
        </p:nvSpPr>
        <p:spPr>
          <a:xfrm>
            <a:off x="4588752" y="2038251"/>
            <a:ext cx="30140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CHECK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88752" y="2504976"/>
            <a:ext cx="301409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Find the code, availability and required price.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60032" y="1733451"/>
            <a:ext cx="3623676" cy="1591866"/>
          </a:xfrm>
          <a:prstGeom prst="rect">
            <a:avLst/>
          </a:prstGeom>
          <a:solidFill>
            <a:srgbClr val="F5CB22"/>
          </a:solidFill>
          <a:ln/>
        </p:spPr>
      </p:sp>
      <p:sp>
        <p:nvSpPr>
          <p:cNvPr id="12" name="Text 10"/>
          <p:cNvSpPr/>
          <p:nvPr/>
        </p:nvSpPr>
        <p:spPr>
          <a:xfrm>
            <a:off x="8364824" y="2038251"/>
            <a:ext cx="30140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RESULT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64824" y="2504976"/>
            <a:ext cx="301409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Complete the sale, reject it with a reason, or return change.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7987" y="3572966"/>
            <a:ext cx="11175621" cy="38100"/>
          </a:xfrm>
          <a:prstGeom prst="roundRect">
            <a:avLst>
              <a:gd name="adj" fmla="val 49999"/>
            </a:avLst>
          </a:prstGeom>
          <a:solidFill>
            <a:srgbClr val="E83E8C"/>
          </a:solidFill>
          <a:ln/>
        </p:spPr>
      </p:sp>
      <p:sp>
        <p:nvSpPr>
          <p:cNvPr id="15" name="Text 13"/>
          <p:cNvSpPr/>
          <p:nvPr/>
        </p:nvSpPr>
        <p:spPr>
          <a:xfrm>
            <a:off x="507987" y="3858716"/>
            <a:ext cx="1168370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524B4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After a successful purchase, stock is reduced and the next interaction starts from the updated data.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9A345D-D086-85C0-9F24-89D2316A4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0652" y="5939532"/>
            <a:ext cx="1301347" cy="9728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451" cy="6858000"/>
          </a:xfrm>
          <a:prstGeom prst="rect">
            <a:avLst/>
          </a:prstGeom>
          <a:solidFill>
            <a:srgbClr val="F5EBD5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457200"/>
            <a:ext cx="548626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88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06 · QUALITY +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189" y="716855"/>
            <a:ext cx="502907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b="1" kern="0" spc="-30" dirty="0">
                <a:solidFill>
                  <a:srgbClr val="000000"/>
                </a:solidFill>
                <a:latin typeface="Fredoka Bold" pitchFamily="34" charset="0"/>
                <a:ea typeface="Fredoka Bold" pitchFamily="34" charset="-122"/>
                <a:cs typeface="Fredoka Bold" pitchFamily="34" charset="-120"/>
              </a:rPr>
              <a:t>TESTING AND FUTURE ENHANCEMENTS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189" y="1704280"/>
            <a:ext cx="548626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Test the decision paths before adding complexity.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05432" y="457200"/>
            <a:ext cx="50290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Test cases to cover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05432" y="923925"/>
            <a:ext cx="5029074" cy="1517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Valid product and sufficient money</a:t>
            </a:r>
            <a:endParaRPr lang="en-US" sz="1400" dirty="0"/>
          </a:p>
          <a:p>
            <a:pPr marL="284480" indent="-284480" algn="l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Invalid product code</a:t>
            </a:r>
            <a:endParaRPr lang="en-US" sz="1400" dirty="0"/>
          </a:p>
          <a:p>
            <a:pPr marL="284480" indent="-284480" algn="l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Out-of-stock product</a:t>
            </a:r>
            <a:endParaRPr lang="en-US" sz="1400" dirty="0"/>
          </a:p>
          <a:p>
            <a:pPr marL="284480" indent="-284480" algn="l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Insufficient money and change handling</a:t>
            </a:r>
            <a:endParaRPr lang="en-US" sz="1400" dirty="0"/>
          </a:p>
          <a:p>
            <a:pPr marL="284480" indent="-284480" algn="l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Exit or repeated menu interaction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B5BACD-50C9-94D7-C38A-3C0949FB0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8796" y="5831456"/>
            <a:ext cx="1373203" cy="10265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7797" cy="6858000"/>
          </a:xfrm>
          <a:prstGeom prst="rect">
            <a:avLst/>
          </a:prstGeom>
          <a:solidFill>
            <a:srgbClr val="E83E8C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2938363"/>
            <a:ext cx="6908627" cy="981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8400" b="1" kern="0" spc="-84" dirty="0">
                <a:solidFill>
                  <a:srgbClr val="FFFFFF"/>
                </a:solidFill>
                <a:latin typeface="Fredoka Bold" pitchFamily="34" charset="0"/>
                <a:ea typeface="Fredoka Bold" pitchFamily="34" charset="-122"/>
                <a:cs typeface="Fredoka Bold" pitchFamily="34" charset="-120"/>
              </a:rPr>
              <a:t>THANK YOU</a:t>
            </a:r>
            <a:endParaRPr lang="en-US" sz="8400" dirty="0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6858000"/>
          </a:xfrm>
          <a:prstGeom prst="rect">
            <a:avLst/>
          </a:prstGeom>
          <a:solidFill>
            <a:srgbClr val="F5CB2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458B04-3B17-BAC5-DAD0-4D1C9F08A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9187" y="5942699"/>
            <a:ext cx="1622508" cy="9153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582</Words>
  <Application>Microsoft Office PowerPoint</Application>
  <PresentationFormat>Widescreen</PresentationFormat>
  <Paragraphs>81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Rubik</vt:lpstr>
      <vt:lpstr>Fredoka Bold</vt:lpstr>
      <vt:lpstr>Arial</vt:lpstr>
      <vt:lpstr>Rubik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Sahithi Ayyagari</dc:creator>
  <cp:lastModifiedBy>sahithi.ayyagari7@outlook.com</cp:lastModifiedBy>
  <cp:revision>2</cp:revision>
  <dcterms:created xsi:type="dcterms:W3CDTF">2026-09-22T02:54:44Z</dcterms:created>
  <dcterms:modified xsi:type="dcterms:W3CDTF">2026-10-06T04:54:33Z</dcterms:modified>
</cp:coreProperties>
</file>